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aharlika" charset="1" panose="00000000000000000000"/>
      <p:regular r:id="rId20"/>
    </p:embeddedFont>
    <p:embeddedFont>
      <p:font typeface="Glacial Indifference" charset="1" panose="00000000000000000000"/>
      <p:regular r:id="rId21"/>
    </p:embeddedFont>
    <p:embeddedFont>
      <p:font typeface="Red Hat Display" charset="1" panose="02010503040201060303"/>
      <p:regular r:id="rId22"/>
    </p:embeddedFont>
    <p:embeddedFont>
      <p:font typeface="Red Hat Display Bold" charset="1" panose="020108030402010603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agrimarketprofitoptimizer.my.canva.site"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387843"/>
            <a:ext cx="7537687" cy="7537687"/>
          </a:xfrm>
          <a:custGeom>
            <a:avLst/>
            <a:gdLst/>
            <a:ahLst/>
            <a:cxnLst/>
            <a:rect r="r" b="b" t="t" l="l"/>
            <a:pathLst>
              <a:path h="7537687" w="7537687">
                <a:moveTo>
                  <a:pt x="0" y="0"/>
                </a:moveTo>
                <a:lnTo>
                  <a:pt x="7537687" y="0"/>
                </a:lnTo>
                <a:lnTo>
                  <a:pt x="7537687" y="7537687"/>
                </a:lnTo>
                <a:lnTo>
                  <a:pt x="0" y="7537687"/>
                </a:lnTo>
                <a:lnTo>
                  <a:pt x="0" y="0"/>
                </a:lnTo>
                <a:close/>
              </a:path>
            </a:pathLst>
          </a:custGeom>
          <a:blipFill>
            <a:blip r:embed="rId2"/>
            <a:stretch>
              <a:fillRect l="0" t="0" r="0" b="0"/>
            </a:stretch>
          </a:blipFill>
        </p:spPr>
      </p:sp>
      <p:sp>
        <p:nvSpPr>
          <p:cNvPr name="TextBox 3" id="3"/>
          <p:cNvSpPr txBox="true"/>
          <p:nvPr/>
        </p:nvSpPr>
        <p:spPr>
          <a:xfrm rot="0">
            <a:off x="9306619" y="3260615"/>
            <a:ext cx="7952681" cy="2837821"/>
          </a:xfrm>
          <a:prstGeom prst="rect">
            <a:avLst/>
          </a:prstGeom>
        </p:spPr>
        <p:txBody>
          <a:bodyPr anchor="t" rtlCol="false" tIns="0" lIns="0" bIns="0" rIns="0">
            <a:spAutoFit/>
          </a:bodyPr>
          <a:lstStyle/>
          <a:p>
            <a:pPr algn="ctr">
              <a:lnSpc>
                <a:spcPts val="11059"/>
              </a:lnSpc>
            </a:pPr>
            <a:r>
              <a:rPr lang="en-US" sz="7899" u="sng">
                <a:solidFill>
                  <a:srgbClr val="000000"/>
                </a:solidFill>
                <a:latin typeface="Maharlika"/>
                <a:ea typeface="Maharlika"/>
                <a:cs typeface="Maharlika"/>
                <a:sym typeface="Maharlika"/>
              </a:rPr>
              <a:t>AgriMarket </a:t>
            </a:r>
          </a:p>
          <a:p>
            <a:pPr algn="ctr">
              <a:lnSpc>
                <a:spcPts val="11059"/>
              </a:lnSpc>
              <a:spcBef>
                <a:spcPct val="0"/>
              </a:spcBef>
            </a:pPr>
            <a:r>
              <a:rPr lang="en-US" sz="7899" u="sng">
                <a:solidFill>
                  <a:srgbClr val="000000"/>
                </a:solidFill>
                <a:latin typeface="Maharlika"/>
                <a:ea typeface="Maharlika"/>
                <a:cs typeface="Maharlika"/>
                <a:sym typeface="Maharlika"/>
              </a:rPr>
              <a:t>Profit Optimizer</a:t>
            </a:r>
          </a:p>
        </p:txBody>
      </p:sp>
      <p:sp>
        <p:nvSpPr>
          <p:cNvPr name="TextBox 4" id="4"/>
          <p:cNvSpPr txBox="true"/>
          <p:nvPr/>
        </p:nvSpPr>
        <p:spPr>
          <a:xfrm rot="0">
            <a:off x="9144000" y="6099284"/>
            <a:ext cx="8434884" cy="688977"/>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Glacial Indifference"/>
                <a:ea typeface="Glacial Indifference"/>
                <a:cs typeface="Glacial Indifference"/>
                <a:sym typeface="Glacial Indifference"/>
              </a:rPr>
              <a:t>By Sarthak Mehta and Sandeep Yadav</a:t>
            </a:r>
          </a:p>
        </p:txBody>
      </p:sp>
      <p:sp>
        <p:nvSpPr>
          <p:cNvPr name="TextBox 5" id="5"/>
          <p:cNvSpPr txBox="true"/>
          <p:nvPr/>
        </p:nvSpPr>
        <p:spPr>
          <a:xfrm rot="0">
            <a:off x="9949954" y="8573740"/>
            <a:ext cx="6822976" cy="35179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Maharlika"/>
                <a:ea typeface="Maharlika"/>
                <a:cs typeface="Maharlika"/>
                <a:sym typeface="Maharlika"/>
              </a:rPr>
              <a:t>To view this presentation in an interactive mode, click </a:t>
            </a:r>
            <a:r>
              <a:rPr lang="en-US" sz="1899" u="sng">
                <a:solidFill>
                  <a:srgbClr val="000000"/>
                </a:solidFill>
                <a:latin typeface="Maharlika"/>
                <a:ea typeface="Maharlika"/>
                <a:cs typeface="Maharlika"/>
                <a:sym typeface="Maharlika"/>
                <a:hlinkClick r:id="rId3" tooltip="https://agrimarketprofitoptimizer.my.canva.site"/>
              </a:rPr>
              <a:t>here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62" t="0" r="-162" b="0"/>
            </a:stretch>
          </a:blipFill>
        </p:spPr>
      </p:sp>
      <p:sp>
        <p:nvSpPr>
          <p:cNvPr name="TextBox 3" id="3"/>
          <p:cNvSpPr txBox="true"/>
          <p:nvPr/>
        </p:nvSpPr>
        <p:spPr>
          <a:xfrm rot="0">
            <a:off x="1522313" y="2781934"/>
            <a:ext cx="9335729" cy="4777742"/>
          </a:xfrm>
          <a:prstGeom prst="rect">
            <a:avLst/>
          </a:prstGeom>
        </p:spPr>
        <p:txBody>
          <a:bodyPr anchor="t" rtlCol="false" tIns="0" lIns="0" bIns="0" rIns="0">
            <a:spAutoFit/>
          </a:bodyPr>
          <a:lstStyle/>
          <a:p>
            <a:pPr algn="just">
              <a:lnSpc>
                <a:spcPts val="5459"/>
              </a:lnSpc>
              <a:spcBef>
                <a:spcPct val="0"/>
              </a:spcBef>
            </a:pPr>
            <a:r>
              <a:rPr lang="en-US" sz="3899">
                <a:solidFill>
                  <a:srgbClr val="000000"/>
                </a:solidFill>
                <a:latin typeface="Red Hat Display"/>
                <a:ea typeface="Red Hat Display"/>
                <a:cs typeface="Red Hat Display"/>
                <a:sym typeface="Red Hat Display"/>
              </a:rPr>
              <a:t>This presentation details the development of a code designed to help farmers and traders maximize their profits in the Indian agricultural market. The code analyzes real-time market data, integrates transportation costs, and recommends the most profitable market for selling produce.</a:t>
            </a:r>
          </a:p>
        </p:txBody>
      </p:sp>
    </p:spTree>
  </p:cSld>
  <p:clrMapOvr>
    <a:masterClrMapping/>
  </p:clrMapOvr>
  <p:transition spd="slow">
    <p:push dir="u"/>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 r="0" b="-81"/>
            </a:stretch>
          </a:blipFill>
        </p:spPr>
      </p:sp>
      <p:sp>
        <p:nvSpPr>
          <p:cNvPr name="Freeform 3" id="3"/>
          <p:cNvSpPr/>
          <p:nvPr/>
        </p:nvSpPr>
        <p:spPr>
          <a:xfrm flipH="false" flipV="false" rot="0">
            <a:off x="1028700" y="4139397"/>
            <a:ext cx="16230600" cy="5214080"/>
          </a:xfrm>
          <a:custGeom>
            <a:avLst/>
            <a:gdLst/>
            <a:ahLst/>
            <a:cxnLst/>
            <a:rect r="r" b="b" t="t" l="l"/>
            <a:pathLst>
              <a:path h="5214080" w="16230600">
                <a:moveTo>
                  <a:pt x="0" y="0"/>
                </a:moveTo>
                <a:lnTo>
                  <a:pt x="16230600" y="0"/>
                </a:lnTo>
                <a:lnTo>
                  <a:pt x="16230600" y="5214080"/>
                </a:lnTo>
                <a:lnTo>
                  <a:pt x="0" y="5214080"/>
                </a:lnTo>
                <a:lnTo>
                  <a:pt x="0" y="0"/>
                </a:lnTo>
                <a:close/>
              </a:path>
            </a:pathLst>
          </a:custGeom>
          <a:blipFill>
            <a:blip r:embed="rId3"/>
            <a:stretch>
              <a:fillRect l="0" t="0" r="0" b="0"/>
            </a:stretch>
          </a:blipFill>
        </p:spPr>
      </p:sp>
    </p:spTree>
  </p:cSld>
  <p:clrMapOvr>
    <a:masterClrMapping/>
  </p:clrMapOvr>
  <p:transition spd="slow">
    <p:push dir="u"/>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Freeform 2" id="2"/>
          <p:cNvSpPr/>
          <p:nvPr/>
        </p:nvSpPr>
        <p:spPr>
          <a:xfrm flipH="false" flipV="false" rot="0">
            <a:off x="1365439" y="1402072"/>
            <a:ext cx="7408639" cy="7408639"/>
          </a:xfrm>
          <a:custGeom>
            <a:avLst/>
            <a:gdLst/>
            <a:ahLst/>
            <a:cxnLst/>
            <a:rect r="r" b="b" t="t" l="l"/>
            <a:pathLst>
              <a:path h="7408639" w="7408639">
                <a:moveTo>
                  <a:pt x="0" y="0"/>
                </a:moveTo>
                <a:lnTo>
                  <a:pt x="7408638" y="0"/>
                </a:lnTo>
                <a:lnTo>
                  <a:pt x="7408638" y="7408638"/>
                </a:lnTo>
                <a:lnTo>
                  <a:pt x="0" y="7408638"/>
                </a:lnTo>
                <a:lnTo>
                  <a:pt x="0" y="0"/>
                </a:lnTo>
                <a:close/>
              </a:path>
            </a:pathLst>
          </a:custGeom>
          <a:blipFill>
            <a:blip r:embed="rId2"/>
            <a:stretch>
              <a:fillRect l="0" t="0" r="0" b="0"/>
            </a:stretch>
          </a:blipFill>
        </p:spPr>
      </p:sp>
      <p:sp>
        <p:nvSpPr>
          <p:cNvPr name="TextBox 3" id="3"/>
          <p:cNvSpPr txBox="true"/>
          <p:nvPr/>
        </p:nvSpPr>
        <p:spPr>
          <a:xfrm rot="0">
            <a:off x="9562915" y="2436579"/>
            <a:ext cx="7696385" cy="6374131"/>
          </a:xfrm>
          <a:prstGeom prst="rect">
            <a:avLst/>
          </a:prstGeom>
        </p:spPr>
        <p:txBody>
          <a:bodyPr anchor="t" rtlCol="false" tIns="0" lIns="0" bIns="0" rIns="0">
            <a:spAutoFit/>
          </a:bodyPr>
          <a:lstStyle/>
          <a:p>
            <a:pPr algn="just">
              <a:lnSpc>
                <a:spcPts val="4619"/>
              </a:lnSpc>
              <a:spcBef>
                <a:spcPct val="0"/>
              </a:spcBef>
            </a:pPr>
            <a:r>
              <a:rPr lang="en-US" sz="3299">
                <a:solidFill>
                  <a:srgbClr val="000000"/>
                </a:solidFill>
                <a:latin typeface="Glacial Indifference"/>
                <a:ea typeface="Glacial Indifference"/>
                <a:cs typeface="Glacial Indifference"/>
                <a:sym typeface="Glacial Indifference"/>
              </a:rPr>
              <a:t>The code utilizes a time series dataset containing information on 325 different commodities sold across all mandis/APMC markets in India. The dataset spans from January 1st, 2000, to February 1st, 2024. Each record includes details such as state, district, market, variety, arrival quantities, minimum, maximum, and modal prices. It offers a comprehensive snapshot of India's agricultural market.</a:t>
            </a:r>
          </a:p>
          <a:p>
            <a:pPr algn="just">
              <a:lnSpc>
                <a:spcPts val="4619"/>
              </a:lnSpc>
              <a:spcBef>
                <a:spcPct val="0"/>
              </a:spcBef>
            </a:pPr>
            <a:r>
              <a:rPr lang="en-US" sz="3299">
                <a:solidFill>
                  <a:srgbClr val="000000"/>
                </a:solidFill>
                <a:latin typeface="Glacial Indifference"/>
                <a:ea typeface="Glacial Indifference"/>
                <a:cs typeface="Glacial Indifference"/>
                <a:sym typeface="Glacial Indifference"/>
              </a:rPr>
              <a:t> </a:t>
            </a:r>
          </a:p>
        </p:txBody>
      </p:sp>
      <p:sp>
        <p:nvSpPr>
          <p:cNvPr name="TextBox 4" id="4"/>
          <p:cNvSpPr txBox="true"/>
          <p:nvPr/>
        </p:nvSpPr>
        <p:spPr>
          <a:xfrm rot="0">
            <a:off x="9562915" y="1240147"/>
            <a:ext cx="5929114" cy="993778"/>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Maharlika"/>
                <a:ea typeface="Maharlika"/>
                <a:cs typeface="Maharlika"/>
                <a:sym typeface="Maharlika"/>
              </a:rPr>
              <a:t>Dataset Overview</a:t>
            </a:r>
          </a:p>
        </p:txBody>
      </p:sp>
    </p:spTree>
  </p:cSld>
  <p:clrMapOvr>
    <a:masterClrMapping/>
  </p:clrMapOvr>
  <p:transition spd="slow">
    <p:push dir="u"/>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62" t="0" r="-162" b="0"/>
            </a:stretch>
          </a:blipFill>
        </p:spPr>
      </p:sp>
      <p:sp>
        <p:nvSpPr>
          <p:cNvPr name="TextBox 3" id="3"/>
          <p:cNvSpPr txBox="true"/>
          <p:nvPr/>
        </p:nvSpPr>
        <p:spPr>
          <a:xfrm rot="0">
            <a:off x="1516737" y="2096871"/>
            <a:ext cx="9832044" cy="2497406"/>
          </a:xfrm>
          <a:prstGeom prst="rect">
            <a:avLst/>
          </a:prstGeom>
        </p:spPr>
        <p:txBody>
          <a:bodyPr anchor="t" rtlCol="false" tIns="0" lIns="0" bIns="0" rIns="0">
            <a:spAutoFit/>
          </a:bodyPr>
          <a:lstStyle/>
          <a:p>
            <a:pPr algn="l">
              <a:lnSpc>
                <a:spcPts val="7565"/>
              </a:lnSpc>
            </a:pPr>
            <a:r>
              <a:rPr lang="en-US" sz="5403">
                <a:solidFill>
                  <a:srgbClr val="000000"/>
                </a:solidFill>
                <a:latin typeface="Maharlika"/>
                <a:ea typeface="Maharlika"/>
                <a:cs typeface="Maharlika"/>
                <a:sym typeface="Maharlika"/>
              </a:rPr>
              <a:t>Libraries and Modules used</a:t>
            </a:r>
          </a:p>
          <a:p>
            <a:pPr algn="l">
              <a:lnSpc>
                <a:spcPts val="7005"/>
              </a:lnSpc>
            </a:pPr>
          </a:p>
          <a:p>
            <a:pPr algn="l" marL="0" indent="0" lvl="0">
              <a:lnSpc>
                <a:spcPts val="4829"/>
              </a:lnSpc>
            </a:pPr>
          </a:p>
        </p:txBody>
      </p:sp>
      <p:sp>
        <p:nvSpPr>
          <p:cNvPr name="TextBox 4" id="4"/>
          <p:cNvSpPr txBox="true"/>
          <p:nvPr/>
        </p:nvSpPr>
        <p:spPr>
          <a:xfrm rot="0">
            <a:off x="1516737" y="3132443"/>
            <a:ext cx="9361968" cy="5641239"/>
          </a:xfrm>
          <a:prstGeom prst="rect">
            <a:avLst/>
          </a:prstGeom>
        </p:spPr>
        <p:txBody>
          <a:bodyPr anchor="t" rtlCol="false" tIns="0" lIns="0" bIns="0" rIns="0">
            <a:spAutoFit/>
          </a:bodyPr>
          <a:lstStyle/>
          <a:p>
            <a:pPr algn="just">
              <a:lnSpc>
                <a:spcPts val="4065"/>
              </a:lnSpc>
            </a:pPr>
            <a:r>
              <a:rPr lang="en-US" sz="2903">
                <a:solidFill>
                  <a:srgbClr val="000000"/>
                </a:solidFill>
                <a:latin typeface="Red Hat Display"/>
                <a:ea typeface="Red Hat Display"/>
                <a:cs typeface="Red Hat Display"/>
                <a:sym typeface="Red Hat Display"/>
              </a:rPr>
              <a:t>The os module is used for file and folder management, enabling the script to navigate directories, list .csv files, and check file sizes. Pandas handles data manipulation, allowing the reading, filtering, and combining of datasets into structured DataFrames for analysis. Geopy is employed to calculate distances between locations by geocoding city names into coordinates and determining the geodesic distance, which is crucial for estimating transportation costs. Together, these libraries facilitate efficient data processing and geographical computations.</a:t>
            </a:r>
          </a:p>
          <a:p>
            <a:pPr algn="just">
              <a:lnSpc>
                <a:spcPts val="4065"/>
              </a:lnSpc>
              <a:spcBef>
                <a:spcPct val="0"/>
              </a:spcBef>
            </a:pPr>
          </a:p>
        </p:txBody>
      </p:sp>
    </p:spTree>
  </p:cSld>
  <p:clrMapOvr>
    <a:masterClrMapping/>
  </p:clrMapOvr>
  <p:transition spd="slow">
    <p:push dir="u"/>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8" r="0" b="-778"/>
            </a:stretch>
          </a:blipFill>
        </p:spPr>
      </p:sp>
      <p:sp>
        <p:nvSpPr>
          <p:cNvPr name="TextBox 3" id="3"/>
          <p:cNvSpPr txBox="true"/>
          <p:nvPr/>
        </p:nvSpPr>
        <p:spPr>
          <a:xfrm rot="0">
            <a:off x="8413242" y="3605527"/>
            <a:ext cx="8393257" cy="2837821"/>
          </a:xfrm>
          <a:prstGeom prst="rect">
            <a:avLst/>
          </a:prstGeom>
        </p:spPr>
        <p:txBody>
          <a:bodyPr anchor="t" rtlCol="false" tIns="0" lIns="0" bIns="0" rIns="0">
            <a:spAutoFit/>
          </a:bodyPr>
          <a:lstStyle/>
          <a:p>
            <a:pPr algn="ctr">
              <a:lnSpc>
                <a:spcPts val="11059"/>
              </a:lnSpc>
              <a:spcBef>
                <a:spcPct val="0"/>
              </a:spcBef>
            </a:pPr>
            <a:r>
              <a:rPr lang="en-US" sz="7899">
                <a:solidFill>
                  <a:srgbClr val="000000"/>
                </a:solidFill>
                <a:latin typeface="Maharlika"/>
                <a:ea typeface="Maharlika"/>
                <a:cs typeface="Maharlika"/>
                <a:sym typeface="Maharlika"/>
              </a:rPr>
              <a:t>Key Functions Used in the Code</a:t>
            </a:r>
          </a:p>
        </p:txBody>
      </p:sp>
    </p:spTree>
  </p:cSld>
  <p:clrMapOvr>
    <a:masterClrMapping/>
  </p:clrMapOvr>
  <p:transition spd="slow">
    <p:push dir="u"/>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TextBox 2" id="2"/>
          <p:cNvSpPr txBox="true"/>
          <p:nvPr/>
        </p:nvSpPr>
        <p:spPr>
          <a:xfrm rot="0">
            <a:off x="1028700" y="1621159"/>
            <a:ext cx="8115300" cy="3422016"/>
          </a:xfrm>
          <a:prstGeom prst="rect">
            <a:avLst/>
          </a:prstGeom>
        </p:spPr>
        <p:txBody>
          <a:bodyPr anchor="t" rtlCol="false" tIns="0" lIns="0" bIns="0" rIns="0">
            <a:spAutoFit/>
          </a:bodyPr>
          <a:lstStyle/>
          <a:p>
            <a:pPr algn="just">
              <a:lnSpc>
                <a:spcPts val="3009"/>
              </a:lnSpc>
            </a:pPr>
            <a:r>
              <a:rPr lang="en-US" sz="2149">
                <a:solidFill>
                  <a:srgbClr val="3C4043"/>
                </a:solidFill>
                <a:latin typeface="Red Hat Display"/>
                <a:ea typeface="Red Hat Display"/>
                <a:cs typeface="Red Hat Display"/>
                <a:sym typeface="Red Hat Display"/>
              </a:rPr>
              <a:t>This function is responsible for loading all the CSV files from the specified folder path (folder_path). It scans the folder, identifies files with a .csv extension, and attempts to read them into a Pandas DataFrame. Empty files are skipped to prevent errors. If a file contains valid data, it is appended to a list of DataFrames. Finally, all the DataFrames are concatenated into a single DataFrame. This ensures that all market data is consolidated for further analysis. The function also ensures the script does not crash by handling empty datasets gracefully.</a:t>
            </a:r>
          </a:p>
        </p:txBody>
      </p:sp>
      <p:sp>
        <p:nvSpPr>
          <p:cNvPr name="TextBox 3" id="3"/>
          <p:cNvSpPr txBox="true"/>
          <p:nvPr/>
        </p:nvSpPr>
        <p:spPr>
          <a:xfrm rot="0">
            <a:off x="1028700" y="523875"/>
            <a:ext cx="15566923" cy="1144909"/>
          </a:xfrm>
          <a:prstGeom prst="rect">
            <a:avLst/>
          </a:prstGeom>
        </p:spPr>
        <p:txBody>
          <a:bodyPr anchor="t" rtlCol="false" tIns="0" lIns="0" bIns="0" rIns="0">
            <a:spAutoFit/>
          </a:bodyPr>
          <a:lstStyle/>
          <a:p>
            <a:pPr algn="l">
              <a:lnSpc>
                <a:spcPts val="8819"/>
              </a:lnSpc>
              <a:spcBef>
                <a:spcPct val="0"/>
              </a:spcBef>
            </a:pPr>
            <a:r>
              <a:rPr lang="en-US" sz="6299">
                <a:solidFill>
                  <a:srgbClr val="3C4043"/>
                </a:solidFill>
                <a:latin typeface="Maharlika"/>
                <a:ea typeface="Maharlika"/>
                <a:cs typeface="Maharlika"/>
                <a:sym typeface="Maharlika"/>
              </a:rPr>
              <a:t>load_data(folder_path)</a:t>
            </a:r>
          </a:p>
        </p:txBody>
      </p:sp>
      <p:sp>
        <p:nvSpPr>
          <p:cNvPr name="TextBox 4" id="4"/>
          <p:cNvSpPr txBox="true"/>
          <p:nvPr/>
        </p:nvSpPr>
        <p:spPr>
          <a:xfrm rot="0">
            <a:off x="1028700" y="6655120"/>
            <a:ext cx="8115300" cy="2279015"/>
          </a:xfrm>
          <a:prstGeom prst="rect">
            <a:avLst/>
          </a:prstGeom>
        </p:spPr>
        <p:txBody>
          <a:bodyPr anchor="t" rtlCol="false" tIns="0" lIns="0" bIns="0" rIns="0">
            <a:spAutoFit/>
          </a:bodyPr>
          <a:lstStyle/>
          <a:p>
            <a:pPr algn="just">
              <a:lnSpc>
                <a:spcPts val="3010"/>
              </a:lnSpc>
            </a:pPr>
            <a:r>
              <a:rPr lang="en-US" sz="2150">
                <a:solidFill>
                  <a:srgbClr val="3C4043"/>
                </a:solidFill>
                <a:latin typeface="Red Hat Display"/>
                <a:ea typeface="Red Hat Display"/>
                <a:cs typeface="Red Hat Display"/>
                <a:sym typeface="Red Hat Display"/>
              </a:rPr>
              <a:t>This function filters the loaded dataset to include only the most recent data based on the Reported Date column. It first identifies the latest date present in the dataset and then extracts rows corresponding to this date. This step ensures that the analysis is conducted using up-to-date information, making the recommendations relevant for the current market conditions.</a:t>
            </a:r>
          </a:p>
        </p:txBody>
      </p:sp>
      <p:sp>
        <p:nvSpPr>
          <p:cNvPr name="TextBox 5" id="5"/>
          <p:cNvSpPr txBox="true"/>
          <p:nvPr/>
        </p:nvSpPr>
        <p:spPr>
          <a:xfrm rot="0">
            <a:off x="1028700" y="5557840"/>
            <a:ext cx="7218561" cy="1144905"/>
          </a:xfrm>
          <a:prstGeom prst="rect">
            <a:avLst/>
          </a:prstGeom>
        </p:spPr>
        <p:txBody>
          <a:bodyPr anchor="t" rtlCol="false" tIns="0" lIns="0" bIns="0" rIns="0">
            <a:spAutoFit/>
          </a:bodyPr>
          <a:lstStyle/>
          <a:p>
            <a:pPr algn="ctr">
              <a:lnSpc>
                <a:spcPts val="8819"/>
              </a:lnSpc>
              <a:spcBef>
                <a:spcPct val="0"/>
              </a:spcBef>
            </a:pPr>
            <a:r>
              <a:rPr lang="en-US" sz="6300">
                <a:solidFill>
                  <a:srgbClr val="000000"/>
                </a:solidFill>
                <a:latin typeface="Maharlika"/>
                <a:ea typeface="Maharlika"/>
                <a:cs typeface="Maharlika"/>
                <a:sym typeface="Maharlika"/>
              </a:rPr>
              <a:t>get_latest_data(df)</a:t>
            </a:r>
          </a:p>
        </p:txBody>
      </p:sp>
      <p:sp>
        <p:nvSpPr>
          <p:cNvPr name="Freeform 6" id="6"/>
          <p:cNvSpPr/>
          <p:nvPr/>
        </p:nvSpPr>
        <p:spPr>
          <a:xfrm flipH="false" flipV="false" rot="0">
            <a:off x="9379094" y="1668784"/>
            <a:ext cx="7880206" cy="2951360"/>
          </a:xfrm>
          <a:custGeom>
            <a:avLst/>
            <a:gdLst/>
            <a:ahLst/>
            <a:cxnLst/>
            <a:rect r="r" b="b" t="t" l="l"/>
            <a:pathLst>
              <a:path h="2951360" w="7880206">
                <a:moveTo>
                  <a:pt x="0" y="0"/>
                </a:moveTo>
                <a:lnTo>
                  <a:pt x="7880206" y="0"/>
                </a:lnTo>
                <a:lnTo>
                  <a:pt x="7880206" y="2951360"/>
                </a:lnTo>
                <a:lnTo>
                  <a:pt x="0" y="2951360"/>
                </a:lnTo>
                <a:lnTo>
                  <a:pt x="0" y="0"/>
                </a:lnTo>
                <a:close/>
              </a:path>
            </a:pathLst>
          </a:custGeom>
          <a:blipFill>
            <a:blip r:embed="rId2"/>
            <a:stretch>
              <a:fillRect l="0" t="0" r="0" b="0"/>
            </a:stretch>
          </a:blipFill>
        </p:spPr>
      </p:sp>
      <p:sp>
        <p:nvSpPr>
          <p:cNvPr name="Freeform 7" id="7"/>
          <p:cNvSpPr/>
          <p:nvPr/>
        </p:nvSpPr>
        <p:spPr>
          <a:xfrm flipH="false" flipV="false" rot="0">
            <a:off x="9379094" y="6702745"/>
            <a:ext cx="7880206" cy="1398336"/>
          </a:xfrm>
          <a:custGeom>
            <a:avLst/>
            <a:gdLst/>
            <a:ahLst/>
            <a:cxnLst/>
            <a:rect r="r" b="b" t="t" l="l"/>
            <a:pathLst>
              <a:path h="1398336" w="7880206">
                <a:moveTo>
                  <a:pt x="0" y="0"/>
                </a:moveTo>
                <a:lnTo>
                  <a:pt x="7880206" y="0"/>
                </a:lnTo>
                <a:lnTo>
                  <a:pt x="7880206" y="1398336"/>
                </a:lnTo>
                <a:lnTo>
                  <a:pt x="0" y="1398336"/>
                </a:lnTo>
                <a:lnTo>
                  <a:pt x="0" y="0"/>
                </a:lnTo>
                <a:close/>
              </a:path>
            </a:pathLst>
          </a:custGeom>
          <a:blipFill>
            <a:blip r:embed="rId3"/>
            <a:stretch>
              <a:fillRect l="0" t="0" r="0" b="0"/>
            </a:stretch>
          </a:blipFill>
        </p:spPr>
      </p:sp>
    </p:spTree>
  </p:cSld>
  <p:clrMapOvr>
    <a:masterClrMapping/>
  </p:clrMapOvr>
  <p:transition spd="slow">
    <p:push dir="u"/>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TextBox 2" id="2"/>
          <p:cNvSpPr txBox="true"/>
          <p:nvPr/>
        </p:nvSpPr>
        <p:spPr>
          <a:xfrm rot="0">
            <a:off x="1028700" y="1935480"/>
            <a:ext cx="8115300" cy="2279015"/>
          </a:xfrm>
          <a:prstGeom prst="rect">
            <a:avLst/>
          </a:prstGeom>
        </p:spPr>
        <p:txBody>
          <a:bodyPr anchor="t" rtlCol="false" tIns="0" lIns="0" bIns="0" rIns="0">
            <a:spAutoFit/>
          </a:bodyPr>
          <a:lstStyle/>
          <a:p>
            <a:pPr algn="just">
              <a:lnSpc>
                <a:spcPts val="3010"/>
              </a:lnSpc>
            </a:pPr>
            <a:r>
              <a:rPr lang="en-US" sz="2150">
                <a:solidFill>
                  <a:srgbClr val="3C4043"/>
                </a:solidFill>
                <a:latin typeface="Red Hat Display"/>
                <a:ea typeface="Red Hat Display"/>
                <a:cs typeface="Red Hat Display"/>
                <a:sym typeface="Red Hat Display"/>
              </a:rPr>
              <a:t>This function simplifies the process of user interaction by providing a menu-based interface. It takes a list of options and a prompt as input and displays the options to the user. The user selects an option by entering the corresponding number. The function validates the input and returns the selected option. This structured approach prevents errors and makes the script user-friendly.</a:t>
            </a:r>
          </a:p>
        </p:txBody>
      </p:sp>
      <p:sp>
        <p:nvSpPr>
          <p:cNvPr name="TextBox 3" id="3"/>
          <p:cNvSpPr txBox="true"/>
          <p:nvPr/>
        </p:nvSpPr>
        <p:spPr>
          <a:xfrm rot="0">
            <a:off x="1028700" y="838200"/>
            <a:ext cx="16230600" cy="1144905"/>
          </a:xfrm>
          <a:prstGeom prst="rect">
            <a:avLst/>
          </a:prstGeom>
        </p:spPr>
        <p:txBody>
          <a:bodyPr anchor="t" rtlCol="false" tIns="0" lIns="0" bIns="0" rIns="0">
            <a:spAutoFit/>
          </a:bodyPr>
          <a:lstStyle/>
          <a:p>
            <a:pPr algn="l">
              <a:lnSpc>
                <a:spcPts val="8819"/>
              </a:lnSpc>
              <a:spcBef>
                <a:spcPct val="0"/>
              </a:spcBef>
            </a:pPr>
            <a:r>
              <a:rPr lang="en-US" sz="6300">
                <a:solidFill>
                  <a:srgbClr val="3C4043"/>
                </a:solidFill>
                <a:latin typeface="Maharlika"/>
                <a:ea typeface="Maharlika"/>
                <a:cs typeface="Maharlika"/>
                <a:sym typeface="Maharlika"/>
              </a:rPr>
              <a:t>select_option(options, prompt)</a:t>
            </a:r>
          </a:p>
        </p:txBody>
      </p:sp>
      <p:sp>
        <p:nvSpPr>
          <p:cNvPr name="Freeform 4" id="4"/>
          <p:cNvSpPr/>
          <p:nvPr/>
        </p:nvSpPr>
        <p:spPr>
          <a:xfrm flipH="false" flipV="false" rot="0">
            <a:off x="9382125" y="1983105"/>
            <a:ext cx="8151872" cy="2139471"/>
          </a:xfrm>
          <a:custGeom>
            <a:avLst/>
            <a:gdLst/>
            <a:ahLst/>
            <a:cxnLst/>
            <a:rect r="r" b="b" t="t" l="l"/>
            <a:pathLst>
              <a:path h="2139471" w="8151872">
                <a:moveTo>
                  <a:pt x="0" y="0"/>
                </a:moveTo>
                <a:lnTo>
                  <a:pt x="8151872" y="0"/>
                </a:lnTo>
                <a:lnTo>
                  <a:pt x="8151872" y="2139471"/>
                </a:lnTo>
                <a:lnTo>
                  <a:pt x="0" y="2139471"/>
                </a:lnTo>
                <a:lnTo>
                  <a:pt x="0" y="0"/>
                </a:lnTo>
                <a:close/>
              </a:path>
            </a:pathLst>
          </a:custGeom>
          <a:blipFill>
            <a:blip r:embed="rId2"/>
            <a:stretch>
              <a:fillRect l="0" t="0" r="-90689" b="-262377"/>
            </a:stretch>
          </a:blipFill>
        </p:spPr>
      </p:sp>
      <p:sp>
        <p:nvSpPr>
          <p:cNvPr name="TextBox 5" id="5"/>
          <p:cNvSpPr txBox="true"/>
          <p:nvPr/>
        </p:nvSpPr>
        <p:spPr>
          <a:xfrm rot="0">
            <a:off x="1028700" y="4436745"/>
            <a:ext cx="15544800" cy="1184910"/>
          </a:xfrm>
          <a:prstGeom prst="rect">
            <a:avLst/>
          </a:prstGeom>
        </p:spPr>
        <p:txBody>
          <a:bodyPr anchor="t" rtlCol="false" tIns="0" lIns="0" bIns="0" rIns="0">
            <a:spAutoFit/>
          </a:bodyPr>
          <a:lstStyle/>
          <a:p>
            <a:pPr algn="l">
              <a:lnSpc>
                <a:spcPts val="10080"/>
              </a:lnSpc>
            </a:pPr>
            <a:r>
              <a:rPr lang="en-US" b="true" sz="6300">
                <a:solidFill>
                  <a:srgbClr val="000000"/>
                </a:solidFill>
                <a:latin typeface="Red Hat Display Bold"/>
                <a:ea typeface="Red Hat Display Bold"/>
                <a:cs typeface="Red Hat Display Bold"/>
                <a:sym typeface="Red Hat Display Bold"/>
              </a:rPr>
              <a:t>calculate_distance(city1, city2)</a:t>
            </a:r>
          </a:p>
        </p:txBody>
      </p:sp>
      <p:sp>
        <p:nvSpPr>
          <p:cNvPr name="TextBox 6" id="6"/>
          <p:cNvSpPr txBox="true"/>
          <p:nvPr/>
        </p:nvSpPr>
        <p:spPr>
          <a:xfrm rot="0">
            <a:off x="1028700" y="5640705"/>
            <a:ext cx="8115300" cy="3422015"/>
          </a:xfrm>
          <a:prstGeom prst="rect">
            <a:avLst/>
          </a:prstGeom>
        </p:spPr>
        <p:txBody>
          <a:bodyPr anchor="t" rtlCol="false" tIns="0" lIns="0" bIns="0" rIns="0">
            <a:spAutoFit/>
          </a:bodyPr>
          <a:lstStyle/>
          <a:p>
            <a:pPr algn="just">
              <a:lnSpc>
                <a:spcPts val="3010"/>
              </a:lnSpc>
            </a:pPr>
            <a:r>
              <a:rPr lang="en-US" sz="2150">
                <a:solidFill>
                  <a:srgbClr val="3C4043"/>
                </a:solidFill>
                <a:latin typeface="Red Hat Display"/>
                <a:ea typeface="Red Hat Display"/>
                <a:cs typeface="Red Hat Display"/>
                <a:sym typeface="Red Hat Display"/>
              </a:rPr>
              <a:t>This function calculates the geographical distance between two cities using the </a:t>
            </a:r>
            <a:r>
              <a:rPr lang="en-US" b="true" sz="2150">
                <a:solidFill>
                  <a:srgbClr val="3C4043"/>
                </a:solidFill>
                <a:latin typeface="Red Hat Display Bold"/>
                <a:ea typeface="Red Hat Display Bold"/>
                <a:cs typeface="Red Hat Display Bold"/>
                <a:sym typeface="Red Hat Display Bold"/>
              </a:rPr>
              <a:t>Geopy</a:t>
            </a:r>
            <a:r>
              <a:rPr lang="en-US" sz="2150">
                <a:solidFill>
                  <a:srgbClr val="3C4043"/>
                </a:solidFill>
                <a:latin typeface="Red Hat Display"/>
                <a:ea typeface="Red Hat Display"/>
                <a:cs typeface="Red Hat Display"/>
                <a:sym typeface="Red Hat Display"/>
              </a:rPr>
              <a:t> library. It defines a helper function, get_coordinates(city), which retrieves the latitude and longitude of a given city using Geopy’s geocode function. Once the coordinates of both cities are obtained, the geodesic distance between them is calculated. If the coordinates are missing or cannot be retrieved, the function prints a message and returns infinity (inf) to indicate that the distance cannot be calculated. This function is crucial for factoring in transportation costs between markets.</a:t>
            </a:r>
          </a:p>
        </p:txBody>
      </p:sp>
      <p:sp>
        <p:nvSpPr>
          <p:cNvPr name="Freeform 7" id="7"/>
          <p:cNvSpPr/>
          <p:nvPr/>
        </p:nvSpPr>
        <p:spPr>
          <a:xfrm flipH="false" flipV="false" rot="0">
            <a:off x="9382125" y="5688330"/>
            <a:ext cx="8115300" cy="2920361"/>
          </a:xfrm>
          <a:custGeom>
            <a:avLst/>
            <a:gdLst/>
            <a:ahLst/>
            <a:cxnLst/>
            <a:rect r="r" b="b" t="t" l="l"/>
            <a:pathLst>
              <a:path h="2920361" w="8115300">
                <a:moveTo>
                  <a:pt x="0" y="0"/>
                </a:moveTo>
                <a:lnTo>
                  <a:pt x="8115300" y="0"/>
                </a:lnTo>
                <a:lnTo>
                  <a:pt x="8115300" y="2920361"/>
                </a:lnTo>
                <a:lnTo>
                  <a:pt x="0" y="2920361"/>
                </a:lnTo>
                <a:lnTo>
                  <a:pt x="0" y="0"/>
                </a:lnTo>
                <a:close/>
              </a:path>
            </a:pathLst>
          </a:custGeom>
          <a:blipFill>
            <a:blip r:embed="rId3"/>
            <a:stretch>
              <a:fillRect l="0" t="-38596" r="0" b="0"/>
            </a:stretch>
          </a:blipFill>
        </p:spPr>
      </p:sp>
    </p:spTree>
  </p:cSld>
  <p:clrMapOvr>
    <a:masterClrMapping/>
  </p:clrMapOvr>
  <p:transition spd="slow">
    <p:push dir="u"/>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TextBox 2" id="2"/>
          <p:cNvSpPr txBox="true"/>
          <p:nvPr/>
        </p:nvSpPr>
        <p:spPr>
          <a:xfrm rot="0">
            <a:off x="1028700" y="828675"/>
            <a:ext cx="15468189" cy="941703"/>
          </a:xfrm>
          <a:prstGeom prst="rect">
            <a:avLst/>
          </a:prstGeom>
        </p:spPr>
        <p:txBody>
          <a:bodyPr anchor="t" rtlCol="false" tIns="0" lIns="0" bIns="0" rIns="0">
            <a:spAutoFit/>
          </a:bodyPr>
          <a:lstStyle/>
          <a:p>
            <a:pPr algn="l">
              <a:lnSpc>
                <a:spcPts val="7840"/>
              </a:lnSpc>
            </a:pPr>
            <a:r>
              <a:rPr lang="en-US" b="true" sz="4900">
                <a:solidFill>
                  <a:srgbClr val="000000"/>
                </a:solidFill>
                <a:latin typeface="Red Hat Display Bold"/>
                <a:ea typeface="Red Hat Display Bold"/>
                <a:cs typeface="Red Hat Display Bold"/>
                <a:sym typeface="Red Hat Display Bold"/>
              </a:rPr>
              <a:t>calculate_transport_cost(distance_km, weight_kg)</a:t>
            </a:r>
          </a:p>
        </p:txBody>
      </p:sp>
      <p:sp>
        <p:nvSpPr>
          <p:cNvPr name="TextBox 3" id="3"/>
          <p:cNvSpPr txBox="true"/>
          <p:nvPr/>
        </p:nvSpPr>
        <p:spPr>
          <a:xfrm rot="0">
            <a:off x="1028700" y="1723985"/>
            <a:ext cx="15468189" cy="1898015"/>
          </a:xfrm>
          <a:prstGeom prst="rect">
            <a:avLst/>
          </a:prstGeom>
        </p:spPr>
        <p:txBody>
          <a:bodyPr anchor="t" rtlCol="false" tIns="0" lIns="0" bIns="0" rIns="0">
            <a:spAutoFit/>
          </a:bodyPr>
          <a:lstStyle/>
          <a:p>
            <a:pPr algn="just">
              <a:lnSpc>
                <a:spcPts val="3010"/>
              </a:lnSpc>
            </a:pPr>
            <a:r>
              <a:rPr lang="en-US" sz="2150">
                <a:solidFill>
                  <a:srgbClr val="3C4043"/>
                </a:solidFill>
                <a:latin typeface="Red Hat Display"/>
                <a:ea typeface="Red Hat Display"/>
                <a:cs typeface="Red Hat Display"/>
                <a:sym typeface="Red Hat Display"/>
              </a:rPr>
              <a:t>This function calculates the transportation cost based on the distance between the user’s district and the target market</a:t>
            </a:r>
            <a:r>
              <a:rPr lang="en-US" sz="2150">
                <a:solidFill>
                  <a:srgbClr val="3C4043"/>
                </a:solidFill>
                <a:latin typeface="Red Hat Display"/>
                <a:ea typeface="Red Hat Display"/>
                <a:cs typeface="Red Hat Display"/>
                <a:sym typeface="Red Hat Display"/>
              </a:rPr>
              <a:t>’s district</a:t>
            </a:r>
            <a:r>
              <a:rPr lang="en-US" sz="2150">
                <a:solidFill>
                  <a:srgbClr val="3C4043"/>
                </a:solidFill>
                <a:latin typeface="Red Hat Display"/>
                <a:ea typeface="Red Hat Display"/>
                <a:cs typeface="Red Hat Display"/>
                <a:sym typeface="Red Hat Display"/>
              </a:rPr>
              <a:t>, as well as the weight of the commodity being transported. The formula used is:</a:t>
            </a:r>
          </a:p>
          <a:p>
            <a:pPr algn="just">
              <a:lnSpc>
                <a:spcPts val="3010"/>
              </a:lnSpc>
            </a:pPr>
            <a:r>
              <a:rPr lang="en-US" sz="2150">
                <a:solidFill>
                  <a:srgbClr val="3C4043"/>
                </a:solidFill>
                <a:latin typeface="Red Hat Display"/>
                <a:ea typeface="Red Hat Display"/>
                <a:cs typeface="Red Hat Display"/>
                <a:sym typeface="Red Hat Display"/>
              </a:rPr>
              <a:t>Cost=Distance (in km)×Weight (in kg)×Cost per kg per kmCost=Distance (in km)×Weight (in kg)×Cost per kg per km</a:t>
            </a:r>
          </a:p>
          <a:p>
            <a:pPr algn="just">
              <a:lnSpc>
                <a:spcPts val="3010"/>
              </a:lnSpc>
            </a:pPr>
            <a:r>
              <a:rPr lang="en-US" sz="2150">
                <a:solidFill>
                  <a:srgbClr val="3C4043"/>
                </a:solidFill>
                <a:latin typeface="Red Hat Display"/>
                <a:ea typeface="Red Hat Display"/>
                <a:cs typeface="Red Hat Display"/>
                <a:sym typeface="Red Hat Display"/>
              </a:rPr>
              <a:t>The TRANSPORTATION_COST_PER_KG_PER_KM constant, set at </a:t>
            </a:r>
            <a:r>
              <a:rPr lang="en-US" sz="2150">
                <a:solidFill>
                  <a:srgbClr val="3C4043"/>
                </a:solidFill>
                <a:latin typeface="Red Hat Display"/>
                <a:ea typeface="Red Hat Display"/>
                <a:cs typeface="Red Hat Display"/>
                <a:sym typeface="Red Hat Display"/>
              </a:rPr>
              <a:t>Rs. </a:t>
            </a:r>
            <a:r>
              <a:rPr lang="en-US" sz="2150">
                <a:solidFill>
                  <a:srgbClr val="3C4043"/>
                </a:solidFill>
                <a:latin typeface="Red Hat Display"/>
                <a:ea typeface="Red Hat Display"/>
                <a:cs typeface="Red Hat Display"/>
                <a:sym typeface="Red Hat Display"/>
              </a:rPr>
              <a:t>3.6, is used in the calculation. This function is vital for assessing the net profit after deducting transportation expenses.</a:t>
            </a:r>
          </a:p>
        </p:txBody>
      </p:sp>
      <p:sp>
        <p:nvSpPr>
          <p:cNvPr name="Freeform 4" id="4"/>
          <p:cNvSpPr/>
          <p:nvPr/>
        </p:nvSpPr>
        <p:spPr>
          <a:xfrm flipH="false" flipV="false" rot="0">
            <a:off x="912965" y="3712944"/>
            <a:ext cx="16462070" cy="1430556"/>
          </a:xfrm>
          <a:custGeom>
            <a:avLst/>
            <a:gdLst/>
            <a:ahLst/>
            <a:cxnLst/>
            <a:rect r="r" b="b" t="t" l="l"/>
            <a:pathLst>
              <a:path h="1430556" w="16462070">
                <a:moveTo>
                  <a:pt x="0" y="0"/>
                </a:moveTo>
                <a:lnTo>
                  <a:pt x="16462070" y="0"/>
                </a:lnTo>
                <a:lnTo>
                  <a:pt x="16462070" y="1430556"/>
                </a:lnTo>
                <a:lnTo>
                  <a:pt x="0" y="1430556"/>
                </a:lnTo>
                <a:lnTo>
                  <a:pt x="0" y="0"/>
                </a:lnTo>
                <a:close/>
              </a:path>
            </a:pathLst>
          </a:custGeom>
          <a:blipFill>
            <a:blip r:embed="rId2"/>
            <a:stretch>
              <a:fillRect l="0" t="0" r="0" b="0"/>
            </a:stretch>
          </a:blipFill>
        </p:spPr>
      </p:sp>
      <p:sp>
        <p:nvSpPr>
          <p:cNvPr name="TextBox 5" id="5"/>
          <p:cNvSpPr txBox="true"/>
          <p:nvPr/>
        </p:nvSpPr>
        <p:spPr>
          <a:xfrm rot="0">
            <a:off x="1028700" y="5038725"/>
            <a:ext cx="15544800" cy="941705"/>
          </a:xfrm>
          <a:prstGeom prst="rect">
            <a:avLst/>
          </a:prstGeom>
        </p:spPr>
        <p:txBody>
          <a:bodyPr anchor="t" rtlCol="false" tIns="0" lIns="0" bIns="0" rIns="0">
            <a:spAutoFit/>
          </a:bodyPr>
          <a:lstStyle/>
          <a:p>
            <a:pPr algn="l">
              <a:lnSpc>
                <a:spcPts val="7839"/>
              </a:lnSpc>
            </a:pPr>
            <a:r>
              <a:rPr lang="en-US" b="true" sz="4899">
                <a:solidFill>
                  <a:srgbClr val="000000"/>
                </a:solidFill>
                <a:latin typeface="Red Hat Display Bold"/>
                <a:ea typeface="Red Hat Display Bold"/>
                <a:cs typeface="Red Hat Display Bold"/>
                <a:sym typeface="Red Hat Display Bold"/>
              </a:rPr>
              <a:t>main()</a:t>
            </a:r>
          </a:p>
        </p:txBody>
      </p:sp>
      <p:sp>
        <p:nvSpPr>
          <p:cNvPr name="TextBox 6" id="6"/>
          <p:cNvSpPr txBox="true"/>
          <p:nvPr/>
        </p:nvSpPr>
        <p:spPr>
          <a:xfrm rot="0">
            <a:off x="1028700" y="5932805"/>
            <a:ext cx="16230600" cy="3041015"/>
          </a:xfrm>
          <a:prstGeom prst="rect">
            <a:avLst/>
          </a:prstGeom>
        </p:spPr>
        <p:txBody>
          <a:bodyPr anchor="t" rtlCol="false" tIns="0" lIns="0" bIns="0" rIns="0">
            <a:spAutoFit/>
          </a:bodyPr>
          <a:lstStyle/>
          <a:p>
            <a:pPr algn="just">
              <a:lnSpc>
                <a:spcPts val="3010"/>
              </a:lnSpc>
            </a:pPr>
            <a:r>
              <a:rPr lang="en-US" sz="2150">
                <a:solidFill>
                  <a:srgbClr val="3C4043"/>
                </a:solidFill>
                <a:latin typeface="Red Hat Display"/>
                <a:ea typeface="Red Hat Display"/>
                <a:cs typeface="Red Hat Display"/>
                <a:sym typeface="Red Hat Display"/>
              </a:rPr>
              <a:t>The main function is the core of the script, orchestrating the entire workflow. It begins by allowing the user to select their state, district, market, commodity, and variety through sequential calls to select_option. The user also inputs the quantity of the commodity they wish to sell. The function then calculates the selling price at the user’s selected market using the modal price and quantity. Next, the function iterates through all markets within the same state where the selected commodity and variety are available. For each market, it calculates the net selling price. If the market is not the user's selected market, it factors in transportation costs using calculate_distance and calculate_transport_cost. The profit difference relative to the user's chosen market is computed for each market, and the results are stored in a new column, Profit Relative to Chosen Market.</a:t>
            </a:r>
          </a:p>
          <a:p>
            <a:pPr algn="just">
              <a:lnSpc>
                <a:spcPts val="3010"/>
              </a:lnSpc>
            </a:pPr>
          </a:p>
        </p:txBody>
      </p:sp>
    </p:spTree>
  </p:cSld>
  <p:clrMapOvr>
    <a:masterClrMapping/>
  </p:clrMapOvr>
  <p:transition spd="slow">
    <p:push dir="u"/>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TextBox 2" id="2"/>
          <p:cNvSpPr txBox="true"/>
          <p:nvPr/>
        </p:nvSpPr>
        <p:spPr>
          <a:xfrm rot="0">
            <a:off x="1028700" y="246380"/>
            <a:ext cx="16230600" cy="1517015"/>
          </a:xfrm>
          <a:prstGeom prst="rect">
            <a:avLst/>
          </a:prstGeom>
        </p:spPr>
        <p:txBody>
          <a:bodyPr anchor="t" rtlCol="false" tIns="0" lIns="0" bIns="0" rIns="0">
            <a:spAutoFit/>
          </a:bodyPr>
          <a:lstStyle/>
          <a:p>
            <a:pPr algn="just">
              <a:lnSpc>
                <a:spcPts val="3010"/>
              </a:lnSpc>
            </a:pPr>
            <a:r>
              <a:rPr lang="en-US" sz="2150">
                <a:solidFill>
                  <a:srgbClr val="3C4043"/>
                </a:solidFill>
                <a:latin typeface="Red Hat Display"/>
                <a:ea typeface="Red Hat Display"/>
                <a:cs typeface="Red Hat Display"/>
                <a:sym typeface="Red Hat Display"/>
              </a:rPr>
              <a:t> </a:t>
            </a:r>
          </a:p>
          <a:p>
            <a:pPr algn="just">
              <a:lnSpc>
                <a:spcPts val="3010"/>
              </a:lnSpc>
            </a:pPr>
            <a:r>
              <a:rPr lang="en-US" sz="2150">
                <a:solidFill>
                  <a:srgbClr val="3C4043"/>
                </a:solidFill>
                <a:latin typeface="Red Hat Display"/>
                <a:ea typeface="Red Hat Display"/>
                <a:cs typeface="Red Hat Display"/>
                <a:sym typeface="Red Hat Display"/>
              </a:rPr>
              <a:t>Finally, the function identifies the market with the highest profit relative to the user's market. If the user's market is the most profitable, it congratulates them. Otherwise, it provides details about the best market, including its name, profit difference, and distance from the user's district.</a:t>
            </a:r>
          </a:p>
        </p:txBody>
      </p:sp>
      <p:sp>
        <p:nvSpPr>
          <p:cNvPr name="Freeform 3" id="3"/>
          <p:cNvSpPr/>
          <p:nvPr/>
        </p:nvSpPr>
        <p:spPr>
          <a:xfrm flipH="false" flipV="false" rot="0">
            <a:off x="2651427" y="1763395"/>
            <a:ext cx="12985146" cy="7872158"/>
          </a:xfrm>
          <a:custGeom>
            <a:avLst/>
            <a:gdLst/>
            <a:ahLst/>
            <a:cxnLst/>
            <a:rect r="r" b="b" t="t" l="l"/>
            <a:pathLst>
              <a:path h="7872158" w="12985146">
                <a:moveTo>
                  <a:pt x="0" y="0"/>
                </a:moveTo>
                <a:lnTo>
                  <a:pt x="12985146" y="0"/>
                </a:lnTo>
                <a:lnTo>
                  <a:pt x="12985146" y="7872158"/>
                </a:lnTo>
                <a:lnTo>
                  <a:pt x="0" y="7872158"/>
                </a:lnTo>
                <a:lnTo>
                  <a:pt x="0" y="0"/>
                </a:lnTo>
                <a:close/>
              </a:path>
            </a:pathLst>
          </a:custGeom>
          <a:blipFill>
            <a:blip r:embed="rId2"/>
            <a:stretch>
              <a:fillRect l="0" t="0" r="0" b="-73860"/>
            </a:stretch>
          </a:blipFill>
        </p:spPr>
      </p:sp>
    </p:spTree>
  </p:cSld>
  <p:clrMapOvr>
    <a:masterClrMapping/>
  </p:clrMapOvr>
  <p:transition spd="slow">
    <p:push dir="u"/>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Freeform 2" id="2"/>
          <p:cNvSpPr/>
          <p:nvPr/>
        </p:nvSpPr>
        <p:spPr>
          <a:xfrm flipH="false" flipV="false" rot="0">
            <a:off x="834684" y="1028700"/>
            <a:ext cx="16618631" cy="7364158"/>
          </a:xfrm>
          <a:custGeom>
            <a:avLst/>
            <a:gdLst/>
            <a:ahLst/>
            <a:cxnLst/>
            <a:rect r="r" b="b" t="t" l="l"/>
            <a:pathLst>
              <a:path h="7364158" w="16618631">
                <a:moveTo>
                  <a:pt x="0" y="0"/>
                </a:moveTo>
                <a:lnTo>
                  <a:pt x="16618632" y="0"/>
                </a:lnTo>
                <a:lnTo>
                  <a:pt x="16618632" y="7364158"/>
                </a:lnTo>
                <a:lnTo>
                  <a:pt x="0" y="7364158"/>
                </a:lnTo>
                <a:lnTo>
                  <a:pt x="0" y="0"/>
                </a:lnTo>
                <a:close/>
              </a:path>
            </a:pathLst>
          </a:custGeom>
          <a:blipFill>
            <a:blip r:embed="rId2"/>
            <a:stretch>
              <a:fillRect l="0" t="-137322" r="0" b="-536"/>
            </a:stretch>
          </a:blipFill>
        </p:spPr>
      </p:sp>
    </p:spTree>
  </p:cSld>
  <p:clrMapOvr>
    <a:masterClrMapping/>
  </p:clrMapOvr>
  <p:transition spd="slow">
    <p:push dir="u"/>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Freeform 2" id="2"/>
          <p:cNvSpPr/>
          <p:nvPr/>
        </p:nvSpPr>
        <p:spPr>
          <a:xfrm flipH="false" flipV="false" rot="0">
            <a:off x="0" y="1485900"/>
            <a:ext cx="18288000" cy="7315200"/>
          </a:xfrm>
          <a:custGeom>
            <a:avLst/>
            <a:gdLst/>
            <a:ahLst/>
            <a:cxnLst/>
            <a:rect r="r" b="b" t="t" l="l"/>
            <a:pathLst>
              <a:path h="7315200" w="18288000">
                <a:moveTo>
                  <a:pt x="0" y="0"/>
                </a:moveTo>
                <a:lnTo>
                  <a:pt x="18288000" y="0"/>
                </a:lnTo>
                <a:lnTo>
                  <a:pt x="18288000" y="7315200"/>
                </a:lnTo>
                <a:lnTo>
                  <a:pt x="0" y="7315200"/>
                </a:lnTo>
                <a:lnTo>
                  <a:pt x="0" y="0"/>
                </a:lnTo>
                <a:close/>
              </a:path>
            </a:pathLst>
          </a:custGeom>
          <a:blipFill>
            <a:blip r:embed="rId2"/>
            <a:stretch>
              <a:fillRect l="0" t="0" r="0" b="0"/>
            </a:stretch>
          </a:blipFill>
        </p:spPr>
      </p:sp>
    </p:spTree>
  </p:cSld>
  <p:clrMapOvr>
    <a:masterClrMapping/>
  </p:clrMapOvr>
  <p:transition spd="slow">
    <p:push dir="u"/>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9FC"/>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494677"/>
            <a:ext cx="6835144" cy="6835144"/>
          </a:xfrm>
          <a:custGeom>
            <a:avLst/>
            <a:gdLst/>
            <a:ahLst/>
            <a:cxnLst/>
            <a:rect r="r" b="b" t="t" l="l"/>
            <a:pathLst>
              <a:path h="6835144" w="6835144">
                <a:moveTo>
                  <a:pt x="0" y="0"/>
                </a:moveTo>
                <a:lnTo>
                  <a:pt x="6835144" y="0"/>
                </a:lnTo>
                <a:lnTo>
                  <a:pt x="6835144" y="6835144"/>
                </a:lnTo>
                <a:lnTo>
                  <a:pt x="0" y="6835144"/>
                </a:lnTo>
                <a:lnTo>
                  <a:pt x="0" y="0"/>
                </a:lnTo>
                <a:close/>
              </a:path>
            </a:pathLst>
          </a:custGeom>
          <a:blipFill>
            <a:blip r:embed="rId2"/>
            <a:stretch>
              <a:fillRect l="0" t="0" r="0" b="0"/>
            </a:stretch>
          </a:blipFill>
        </p:spPr>
      </p:sp>
      <p:sp>
        <p:nvSpPr>
          <p:cNvPr name="TextBox 3" id="3"/>
          <p:cNvSpPr txBox="true"/>
          <p:nvPr/>
        </p:nvSpPr>
        <p:spPr>
          <a:xfrm rot="0">
            <a:off x="8366023" y="2190750"/>
            <a:ext cx="8782665" cy="5595620"/>
          </a:xfrm>
          <a:prstGeom prst="rect">
            <a:avLst/>
          </a:prstGeom>
        </p:spPr>
        <p:txBody>
          <a:bodyPr anchor="t" rtlCol="false" tIns="0" lIns="0" bIns="0" rIns="0">
            <a:spAutoFit/>
          </a:bodyPr>
          <a:lstStyle/>
          <a:p>
            <a:pPr algn="just">
              <a:lnSpc>
                <a:spcPts val="4479"/>
              </a:lnSpc>
              <a:spcBef>
                <a:spcPct val="0"/>
              </a:spcBef>
            </a:pPr>
          </a:p>
          <a:p>
            <a:pPr algn="just">
              <a:lnSpc>
                <a:spcPts val="4479"/>
              </a:lnSpc>
              <a:spcBef>
                <a:spcPct val="0"/>
              </a:spcBef>
            </a:pPr>
            <a:r>
              <a:rPr lang="en-US" sz="3199">
                <a:solidFill>
                  <a:srgbClr val="000000"/>
                </a:solidFill>
                <a:latin typeface="Red Hat Display"/>
                <a:ea typeface="Red Hat Display"/>
                <a:cs typeface="Red Hat Display"/>
                <a:sym typeface="Red Hat Display"/>
              </a:rPr>
              <a:t>The code has the potential for future improvements, such as implementing more robust error handling for data inconsistencies, incorporating more granular transportation cost models, and exploring alternative data sources to enhance accuracy and broaden coverage. Continuous development will ensure the code becomes even more effective in guiding farmers and traders towards optimal profit generation.</a:t>
            </a:r>
          </a:p>
        </p:txBody>
      </p:sp>
      <p:sp>
        <p:nvSpPr>
          <p:cNvPr name="TextBox 4" id="4"/>
          <p:cNvSpPr txBox="true"/>
          <p:nvPr/>
        </p:nvSpPr>
        <p:spPr>
          <a:xfrm rot="0">
            <a:off x="8366023" y="1294652"/>
            <a:ext cx="8731746" cy="1203964"/>
          </a:xfrm>
          <a:prstGeom prst="rect">
            <a:avLst/>
          </a:prstGeom>
        </p:spPr>
        <p:txBody>
          <a:bodyPr anchor="t" rtlCol="false" tIns="0" lIns="0" bIns="0" rIns="0">
            <a:spAutoFit/>
          </a:bodyPr>
          <a:lstStyle/>
          <a:p>
            <a:pPr algn="ctr">
              <a:lnSpc>
                <a:spcPts val="9239"/>
              </a:lnSpc>
              <a:spcBef>
                <a:spcPct val="0"/>
              </a:spcBef>
            </a:pPr>
            <a:r>
              <a:rPr lang="en-US" sz="6599">
                <a:solidFill>
                  <a:srgbClr val="000000"/>
                </a:solidFill>
                <a:latin typeface="Maharlika"/>
                <a:ea typeface="Maharlika"/>
                <a:cs typeface="Maharlika"/>
                <a:sym typeface="Maharlika"/>
              </a:rPr>
              <a:t>Future Enhancements</a:t>
            </a:r>
          </a:p>
        </p:txBody>
      </p:sp>
    </p:spTree>
  </p:cSld>
  <p:clrMapOvr>
    <a:masterClrMapping/>
  </p:clrMapOvr>
  <p:transition spd="slow">
    <p:push dir="u"/>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 r="0" b="-81"/>
            </a:stretch>
          </a:blipFill>
        </p:spPr>
      </p:sp>
      <p:sp>
        <p:nvSpPr>
          <p:cNvPr name="TextBox 3" id="3"/>
          <p:cNvSpPr txBox="true"/>
          <p:nvPr/>
        </p:nvSpPr>
        <p:spPr>
          <a:xfrm rot="0">
            <a:off x="6027837" y="4696405"/>
            <a:ext cx="6232327" cy="1783733"/>
          </a:xfrm>
          <a:prstGeom prst="rect">
            <a:avLst/>
          </a:prstGeom>
        </p:spPr>
        <p:txBody>
          <a:bodyPr anchor="t" rtlCol="false" tIns="0" lIns="0" bIns="0" rIns="0">
            <a:spAutoFit/>
          </a:bodyPr>
          <a:lstStyle/>
          <a:p>
            <a:pPr algn="ctr">
              <a:lnSpc>
                <a:spcPts val="14558"/>
              </a:lnSpc>
              <a:spcBef>
                <a:spcPct val="0"/>
              </a:spcBef>
            </a:pPr>
            <a:r>
              <a:rPr lang="en-US" sz="10399">
                <a:solidFill>
                  <a:srgbClr val="000000"/>
                </a:solidFill>
                <a:latin typeface="Red Hat Display"/>
                <a:ea typeface="Red Hat Display"/>
                <a:cs typeface="Red Hat Display"/>
                <a:sym typeface="Red Hat Display"/>
              </a:rPr>
              <a:t>Thank You</a:t>
            </a:r>
          </a:p>
        </p:txBody>
      </p:sp>
      <p:sp>
        <p:nvSpPr>
          <p:cNvPr name="TextBox 4" id="4"/>
          <p:cNvSpPr txBox="true"/>
          <p:nvPr/>
        </p:nvSpPr>
        <p:spPr>
          <a:xfrm rot="0">
            <a:off x="2350690" y="7346316"/>
            <a:ext cx="13586620" cy="1646554"/>
          </a:xfrm>
          <a:prstGeom prst="rect">
            <a:avLst/>
          </a:prstGeom>
        </p:spPr>
        <p:txBody>
          <a:bodyPr anchor="t" rtlCol="false" tIns="0" lIns="0" bIns="0" rIns="0">
            <a:spAutoFit/>
          </a:bodyPr>
          <a:lstStyle/>
          <a:p>
            <a:pPr algn="ctr">
              <a:lnSpc>
                <a:spcPts val="7280"/>
              </a:lnSpc>
            </a:pPr>
            <a:r>
              <a:rPr lang="en-US" sz="5200">
                <a:solidFill>
                  <a:srgbClr val="000000"/>
                </a:solidFill>
                <a:latin typeface="Maharlika"/>
                <a:ea typeface="Maharlika"/>
                <a:cs typeface="Maharlika"/>
                <a:sym typeface="Maharlika"/>
              </a:rPr>
              <a:t>Prepared By</a:t>
            </a:r>
          </a:p>
          <a:p>
            <a:pPr algn="ctr">
              <a:lnSpc>
                <a:spcPts val="5460"/>
              </a:lnSpc>
              <a:spcBef>
                <a:spcPct val="0"/>
              </a:spcBef>
            </a:pPr>
            <a:r>
              <a:rPr lang="en-US" sz="3900">
                <a:solidFill>
                  <a:srgbClr val="000000"/>
                </a:solidFill>
                <a:latin typeface="Maharlika"/>
                <a:ea typeface="Maharlika"/>
                <a:cs typeface="Maharlika"/>
                <a:sym typeface="Maharlika"/>
              </a:rPr>
              <a:t>Sarthak Mehta (24103143) and Sandeep Yadav (24103141)</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DAGXfEd4rRs</dc:identifier>
  <dcterms:modified xsi:type="dcterms:W3CDTF">2011-08-01T06:04:30Z</dcterms:modified>
  <cp:revision>1</cp:revision>
  <dc:title>AgriMarket Profit Optimizer Presentation</dc:title>
</cp:coreProperties>
</file>